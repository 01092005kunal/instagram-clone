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JetBrains Mono"/>
      <p:bold r:id="rId17"/>
    </p:embeddedFont>
    <p:embeddedFont>
      <p:font typeface="Plus Jakarta Sans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10250"/>
            <a:ext cx="109728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8102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72383"/>
            <a:ext cx="876300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600200" y="4072383"/>
            <a:ext cx="876300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90800" y="4072383"/>
            <a:ext cx="1028700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33800" y="4072383"/>
            <a:ext cx="1028700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76800" y="4072383"/>
            <a:ext cx="723900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00" y="1895475"/>
            <a:ext cx="3619500" cy="304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2425" y="1905000"/>
            <a:ext cx="3600450" cy="3028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12" y="695325"/>
            <a:ext cx="21907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24925" y="723900"/>
            <a:ext cx="32670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JetBrains Mono"/>
              </a:rPr>
              <a:t>Kunal Mhatre • Project Showcase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48375"/>
            <a:ext cx="5072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Production URL: </a:t>
            </a:r>
            <a:r>
              <a:rPr sz="1125" b="0" i="0" u="none" dirty="0" err="1">
                <a:solidFill>
                  <a:srgbClr val="E2E8F0"/>
                </a:solidFill>
                <a:latin typeface="Plus Jakarta Sans"/>
              </a:rPr>
              <a:t>instagram</a:t>
            </a:r>
            <a:r>
              <a:rPr sz="1125" b="0" i="0" u="none" dirty="0">
                <a:solidFill>
                  <a:srgbClr val="E2E8F0"/>
                </a:solidFill>
                <a:latin typeface="Plus Jakarta Sans"/>
              </a:rPr>
              <a:t>-clone-drab-</a:t>
            </a:r>
            <a:r>
              <a:rPr sz="1125" b="0" i="0" u="none" dirty="0" err="1">
                <a:solidFill>
                  <a:srgbClr val="E2E8F0"/>
                </a:solidFill>
                <a:latin typeface="Plus Jakarta Sans"/>
              </a:rPr>
              <a:t>pi.vercel.app</a:t>
            </a:r>
            <a:endParaRPr sz="1125" b="0" i="0" u="none" dirty="0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62050" y="719137"/>
            <a:ext cx="17885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94A3B8"/>
                </a:solidFill>
                <a:latin typeface="Plus Jakarta Sans"/>
              </a:rPr>
              <a:t>MICRO-SERVICES</a:t>
            </a:r>
            <a:endParaRPr sz="1200" b="1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600" y="2480816"/>
            <a:ext cx="3230243" cy="551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1" i="0" u="none" dirty="0">
                <a:solidFill>
                  <a:srgbClr val="F8FAFC"/>
                </a:solidFill>
                <a:latin typeface="Plus Jakarta Sans"/>
              </a:rPr>
              <a:t>Instagram Clone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219003"/>
            <a:ext cx="68389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Real-time social media architecture powered by React 19, Supabase PostgreSQL, WebSockets, and Vercel Edge.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4129533"/>
            <a:ext cx="704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JetBrains Mono"/>
              </a:rPr>
              <a:t>React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3550" y="4129533"/>
            <a:ext cx="704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4D399"/>
                </a:solidFill>
                <a:latin typeface="JetBrains Mono"/>
              </a:rPr>
              <a:t>Supabase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4150" y="4129533"/>
            <a:ext cx="857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472B6"/>
                </a:solidFill>
                <a:latin typeface="JetBrains Mono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7150" y="4129533"/>
            <a:ext cx="857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BBF24"/>
                </a:solidFill>
                <a:latin typeface="JetBrains Mono"/>
              </a:rPr>
              <a:t>WebSockets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150" y="4129533"/>
            <a:ext cx="552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78BFA"/>
                </a:solidFill>
                <a:latin typeface="JetBrains Mono"/>
              </a:rPr>
              <a:t>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52725"/>
            <a:ext cx="2571750" cy="2381250"/>
          </a:xfrm>
          <a:prstGeom prst="roundRect">
            <a:avLst>
              <a:gd name="adj" fmla="val 5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752725"/>
            <a:ext cx="2571750" cy="2381250"/>
          </a:xfrm>
          <a:prstGeom prst="roundRect">
            <a:avLst>
              <a:gd name="adj" fmla="val 5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752725"/>
            <a:ext cx="2571750" cy="2381250"/>
          </a:xfrm>
          <a:prstGeom prst="roundRect">
            <a:avLst>
              <a:gd name="adj" fmla="val 5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752725"/>
            <a:ext cx="2571750" cy="2381250"/>
          </a:xfrm>
          <a:prstGeom prst="roundRect">
            <a:avLst>
              <a:gd name="adj" fmla="val 5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6705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30670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306705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306705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3190875"/>
            <a:ext cx="26670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6187" y="3190875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3190875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3190875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8096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Why Build an Instagram Clone?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714750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Relational Graphs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048125"/>
            <a:ext cx="2190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Complex follower-following mapping with instant state sync.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075" y="3714750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Real-Time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075" y="4048125"/>
            <a:ext cx="2190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Sub-100ms bi-directional messaging replacing HTTP polling.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3714750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Media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4048125"/>
            <a:ext cx="2190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Lag-free vertical Reels rendering with viewport sensing.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775" y="3714750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Database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8775" y="4048125"/>
            <a:ext cx="2190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PostgreSQL Row Level Security isolating private message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47900"/>
            <a:ext cx="10972800" cy="8858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76650"/>
            <a:ext cx="10972800" cy="8858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752975"/>
            <a:ext cx="10972800" cy="88582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39375" y="2547937"/>
            <a:ext cx="1028700" cy="28575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86975" y="3976687"/>
            <a:ext cx="1181100" cy="28575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39375" y="5053012"/>
            <a:ext cx="1028700" cy="285750"/>
          </a:xfrm>
          <a:prstGeom prst="roundRect">
            <a:avLst>
              <a:gd name="adj" fmla="val 20000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3343275"/>
            <a:ext cx="76200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50031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929062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5005387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2586037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175" y="4024312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362" y="5100637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SYSTEM TOPOLOGY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8096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Full-Stack Cloud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2725" y="2605087"/>
            <a:ext cx="857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SPA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6700" y="3324225"/>
            <a:ext cx="200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JetBrains Mono"/>
              </a:rPr>
              <a:t>HTTPS (</a:t>
            </a:r>
            <a:r>
              <a:rPr sz="975" b="0" i="0" u="none" dirty="0" err="1">
                <a:solidFill>
                  <a:srgbClr val="64748B"/>
                </a:solidFill>
                <a:latin typeface="JetBrains Mono"/>
              </a:rPr>
              <a:t>PostgREST</a:t>
            </a:r>
            <a:r>
              <a:rPr sz="975" b="0" i="0" u="none" dirty="0">
                <a:solidFill>
                  <a:srgbClr val="64748B"/>
                </a:solidFill>
                <a:latin typeface="JetBrains Mono"/>
              </a:rPr>
              <a:t> API)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7900" y="3324225"/>
            <a:ext cx="2571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JetBrains Mono"/>
              </a:rPr>
              <a:t>WSS (PostgreSQL CDC Engine)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0325" y="4033837"/>
            <a:ext cx="1009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JetBrains Mono"/>
              </a:rPr>
              <a:t>Cloud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2725" y="5110162"/>
            <a:ext cx="857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JetBrains Mono"/>
              </a:rPr>
              <a:t>Global CDN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7325" y="2466975"/>
            <a:ext cx="527565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Client Layer (Frontend)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7325" y="2733675"/>
            <a:ext cx="5024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React 19 • Vite • Chakra UI • React Router v7 • Optimistic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7325" y="3895725"/>
            <a:ext cx="652581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Backend-as-a-Service (Supabase Cloud)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7325" y="4162425"/>
            <a:ext cx="6215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PostgreSQL Relational DB • GoTrue JWT Auth • S3 Storage • Realtime 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7325" y="4972050"/>
            <a:ext cx="63007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Edge Deployment &amp; Hosting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7325" y="5238750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Vercel Global Edge CDN • Automated CI/CD • Instant SSL Provisioning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2324100"/>
            <a:ext cx="6477000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600450"/>
            <a:ext cx="6477000" cy="904875"/>
          </a:xfrm>
          <a:prstGeom prst="roundRect">
            <a:avLst>
              <a:gd name="adj" fmla="val 12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657725"/>
            <a:ext cx="6477000" cy="904875"/>
          </a:xfrm>
          <a:prstGeom prst="roundRect">
            <a:avLst>
              <a:gd name="adj" fmla="val 126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833AB4"/>
                </a:solidFill>
                <a:latin typeface="Plus Jakarta Sans"/>
              </a:rPr>
              <a:t>CORE FEATURE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096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Authentication &amp; User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524125"/>
            <a:ext cx="78759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JWT Session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809875"/>
            <a:ext cx="6096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GoTrue cryptographic token authentication with encrypted password hashing.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800475"/>
            <a:ext cx="78759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Dynamic URL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086225"/>
            <a:ext cx="7500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Deep-linkable profiles using clean custom paths formatted as /:username.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857750"/>
            <a:ext cx="78759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Real-Time Metric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143500"/>
            <a:ext cx="7500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Instant live calculation of post counts, followers, and following lists.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6225" y="4262437"/>
            <a:ext cx="6381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us Jakarta Sans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4450" y="4262437"/>
            <a:ext cx="8763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us Jakarta Sans"/>
              </a:rPr>
              <a:t>1,420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10800" y="4262437"/>
            <a:ext cx="8667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us Jakarta Sans"/>
              </a:rPr>
              <a:t>385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6E768E6-FDAD-4864-A1D1-84024967D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052" y="2736289"/>
            <a:ext cx="4351702" cy="18365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9425"/>
            <a:ext cx="2600325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2857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019425"/>
            <a:ext cx="2600325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3019425"/>
            <a:ext cx="2600325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2857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00425" y="3019425"/>
            <a:ext cx="2600325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019425"/>
            <a:ext cx="2600325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2857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250" y="3019425"/>
            <a:ext cx="2600325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82075" y="3019425"/>
            <a:ext cx="2600325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2857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82075" y="3019425"/>
            <a:ext cx="2600325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CORE FEATURE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096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Newsfeed &amp; Cloud Media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286125"/>
            <a:ext cx="2276475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9975" y="3286125"/>
            <a:ext cx="2276475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86125"/>
            <a:ext cx="2276475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1625" y="3286125"/>
            <a:ext cx="2276475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3629025"/>
            <a:ext cx="286285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Media 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3943350"/>
            <a:ext cx="227647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Direct hash uploads to Supabase Storage S3 buckets.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9975" y="3629025"/>
            <a:ext cx="286285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Relational 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975" y="3943350"/>
            <a:ext cx="227647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Single query combining posts, authors, comments, and likes.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29025"/>
            <a:ext cx="286285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Optimistic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43350"/>
            <a:ext cx="227647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Instant double-tap like heart reactions without server latency.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1625" y="3629025"/>
            <a:ext cx="286285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Skeleton 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1625" y="3943350"/>
            <a:ext cx="227647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Smooth Chakra UI loaders preventing cumulative layout shifts.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47950"/>
            <a:ext cx="5724525" cy="24765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325" y="2638425"/>
            <a:ext cx="342900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325" y="3533775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325" y="4429125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25" y="2733675"/>
            <a:ext cx="1905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575" y="3629025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625" y="4524375"/>
            <a:ext cx="1143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Plus Jakarta Sans"/>
              </a:rPr>
              <a:t>CORE FEATURE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8096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Sub-Second Direct Messaging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7534" y="3114675"/>
            <a:ext cx="4488656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059669"/>
                </a:solidFill>
                <a:latin typeface="Plus Jakarta Sans"/>
              </a:rPr>
              <a:t>&lt;100ms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0003" y="4181475"/>
            <a:ext cx="308371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Message Dispatch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268" y="4457700"/>
            <a:ext cx="5691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Continuous PostgreSQL Change Data Capture via WebSockets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6625" y="2638425"/>
            <a:ext cx="4905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WebSocket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625" y="2905125"/>
            <a:ext cx="43910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Client hooks subscribe directly to message channel mutations.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6625" y="3533775"/>
            <a:ext cx="4905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Instant User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6625" y="3800475"/>
            <a:ext cx="43910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Debounced search modal initiates direct conversation threads.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6625" y="4429125"/>
            <a:ext cx="4905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Auto-Scroll Threading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6625" y="4695825"/>
            <a:ext cx="43910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DOM ref anchors maintain persistent focus on newest dispatches.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4AE7BD-AD11-47A4-A35F-88DFD88AC240}"/>
              </a:ext>
            </a:extLst>
          </p:cNvPr>
          <p:cNvSpPr/>
          <p:nvPr/>
        </p:nvSpPr>
        <p:spPr>
          <a:xfrm>
            <a:off x="7796905" y="533400"/>
            <a:ext cx="4118575" cy="5514975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ounded Rectangle 1"/>
          <p:cNvSpPr/>
          <p:nvPr/>
        </p:nvSpPr>
        <p:spPr>
          <a:xfrm>
            <a:off x="609600" y="2347912"/>
            <a:ext cx="7086600" cy="923925"/>
          </a:xfrm>
          <a:prstGeom prst="roundRect">
            <a:avLst>
              <a:gd name="adj" fmla="val 12371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62337"/>
            <a:ext cx="7086600" cy="923925"/>
          </a:xfrm>
          <a:prstGeom prst="roundRect">
            <a:avLst>
              <a:gd name="adj" fmla="val 12371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76762"/>
            <a:ext cx="7086600" cy="923925"/>
          </a:xfrm>
          <a:prstGeom prst="roundRect">
            <a:avLst>
              <a:gd name="adj" fmla="val 12371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1306C"/>
                </a:solidFill>
                <a:latin typeface="Plus Jakarta Sans"/>
              </a:rPr>
              <a:t>CORE FEATURE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096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High-Performance Vertical Reels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557462"/>
            <a:ext cx="86510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D174D"/>
                </a:solidFill>
                <a:latin typeface="Plus Jakarta Sans"/>
              </a:rPr>
              <a:t>CSS Mandatory Scroll-Snap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2843212"/>
            <a:ext cx="8239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Native full-height 9:16 vertical viewport snapping with zero scroll friction.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3671887"/>
            <a:ext cx="86510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D174D"/>
                </a:solidFill>
                <a:latin typeface="Plus Jakarta Sans"/>
              </a:rPr>
              <a:t>IntersectionObserver Autoplay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957637"/>
            <a:ext cx="8239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Plays only when visible &gt;50%, freezing inactive streams to protect RAM.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786312"/>
            <a:ext cx="86510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D174D"/>
                </a:solidFill>
                <a:latin typeface="Plus Jakarta Sans"/>
              </a:rPr>
              <a:t>Interactive Playback Gestures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5072062"/>
            <a:ext cx="8239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Tap-to-pause overlays, audio mute toggling, and rotating music marquee.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B7D817-F0B6-4CB2-AF4B-E8621FC086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41" t="2084" r="6141" b="2472"/>
          <a:stretch/>
        </p:blipFill>
        <p:spPr>
          <a:xfrm>
            <a:off x="8208862" y="1185457"/>
            <a:ext cx="1620200" cy="25459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36D50C9-9B8A-4D43-98F1-28672ABA4E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97" t="2418" r="5882" b="1599"/>
          <a:stretch/>
        </p:blipFill>
        <p:spPr>
          <a:xfrm>
            <a:off x="9609036" y="2541948"/>
            <a:ext cx="2001774" cy="31629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38275"/>
            <a:ext cx="3505200" cy="1990725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438275"/>
            <a:ext cx="3505200" cy="1990725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438275"/>
            <a:ext cx="3505200" cy="1990725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752600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1752600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1752600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1866900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825" y="186690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25" y="1866900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97706"/>
                </a:solidFill>
                <a:latin typeface="Plus Jakarta Sans"/>
              </a:rPr>
              <a:t>CORE FEATURE MODULE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096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Staggered Explore Grid &amp; Live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362200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Staggered 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676525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Signature 1x1 photo tiles mixed with 1x2 vertical video feature blocks.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2362200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Debounced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2676525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Instant client-side multi-field filtering across post captions and authors.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2362200"/>
            <a:ext cx="387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Hover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2676525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Translucent scrim revealing like and comment metrics on cursor hover.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CD50F08-5491-4A58-A5A1-7AE426DAB9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317" y="3648075"/>
            <a:ext cx="3901015" cy="25696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9045BFF-D432-49F2-8875-6CEDA63E25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3221" y="3684136"/>
            <a:ext cx="2795797" cy="256966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FD40841-CB53-4862-A2A0-6D29A3B64D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7021" y="3619500"/>
            <a:ext cx="2745297" cy="26343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62262"/>
            <a:ext cx="5334000" cy="2162175"/>
          </a:xfrm>
          <a:prstGeom prst="roundRect">
            <a:avLst>
              <a:gd name="adj" fmla="val 61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62262"/>
            <a:ext cx="5334000" cy="2162175"/>
          </a:xfrm>
          <a:prstGeom prst="roundRect">
            <a:avLst>
              <a:gd name="adj" fmla="val 61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4271962"/>
            <a:ext cx="4705350" cy="438150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62725" y="4271962"/>
            <a:ext cx="4705350" cy="438150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8135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181350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F46E5"/>
                </a:solidFill>
                <a:latin typeface="Plus Jakarta Sans"/>
              </a:rPr>
              <a:t>CORE FEATURE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096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Relational Follower Graph &amp; Social Dynamics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67112"/>
            <a:ext cx="4800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Normalized SQL structure indexing follower_id against following_id with unique constraint safeguards.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4405312"/>
            <a:ext cx="4457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followers: follower_id ➔ following_id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567112"/>
            <a:ext cx="4800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Dynamic database filtering querying non-followed active profiles directly within the homepage sidebar.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4175" y="4405312"/>
            <a:ext cx="4457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4D399"/>
                </a:solidFill>
                <a:latin typeface="JetBrains Mono"/>
              </a:rPr>
              <a:t>One-click follow toggle with live feed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825" y="3176587"/>
            <a:ext cx="403800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Bi-directional Relationship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3176587"/>
            <a:ext cx="33004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Suggested Users Discovery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862512"/>
            <a:ext cx="10972800" cy="504825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862512"/>
            <a:ext cx="38100" cy="5048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405062"/>
            <a:ext cx="10972800" cy="2228850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405062"/>
          <a:ext cx="10963273" cy="2228850"/>
        </p:xfrm>
        <a:graphic>
          <a:graphicData uri="http://schemas.openxmlformats.org/drawingml/2006/table">
            <a:tbl>
              <a:tblPr/>
              <a:tblGrid>
                <a:gridCol w="206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7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2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Relation Table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Primary Schema Fields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RLS Security Enforcement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users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id, email, username, full_name, bio, avatar_url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Public read; Self-edit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posts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id, user_id, image_url, caption, created_at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Authenticated creation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conversations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id, user1_id, user2_id, last_message, updated_at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11D48"/>
                          </a:solidFill>
                          <a:latin typeface="Plus Jakarta Sans"/>
                        </a:rPr>
                        <a:t>Participants only (auth.uid check)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messages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id, conversation_id, sender_id, text, created_at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11D48"/>
                          </a:solidFill>
                          <a:latin typeface="Plus Jakarta Sans"/>
                        </a:rPr>
                        <a:t>Strict conversation member isolation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Plus Jakarta Sans"/>
              </a:rPr>
              <a:t>DATA SECURITY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09625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PostgreSQL Schema &amp; Row Level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14912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Plus Jakarta Sans"/>
              </a:rPr>
              <a:t>Database-Engine Isolation: PostgreSQL Row Level Security enforces tenant privacy rules even if frontend clients are compromised.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24075" y="4100512"/>
            <a:ext cx="3619500" cy="457200"/>
          </a:xfrm>
          <a:prstGeom prst="roundRect">
            <a:avLst>
              <a:gd name="adj" fmla="val 208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34075" y="4100512"/>
            <a:ext cx="4133850" cy="457200"/>
          </a:xfrm>
          <a:prstGeom prst="roundRect">
            <a:avLst>
              <a:gd name="adj" fmla="val 208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1757362"/>
            <a:ext cx="495300" cy="49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175" y="1862137"/>
            <a:ext cx="247650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675" y="4252912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75" y="4252912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20440" y="2481262"/>
            <a:ext cx="8951118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450" b="1" i="0" u="none">
                <a:solidFill>
                  <a:srgbClr val="F8FAFC"/>
                </a:solidFill>
                <a:latin typeface="Plus Jakarta Sans"/>
              </a:rPr>
              <a:t>Thank You! Open for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6468" y="3186112"/>
            <a:ext cx="773906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Full-stack social media architecture built with React 19, Supabase PostgreSQL, and real-time WebSockets.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1640" y="4900612"/>
            <a:ext cx="4988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Plus Jakarta Sans"/>
              </a:rPr>
              <a:t>Presenter: </a:t>
            </a:r>
            <a:r>
              <a:rPr sz="1200" b="1" i="0" u="none">
                <a:solidFill>
                  <a:srgbClr val="E2E8F0"/>
                </a:solidFill>
                <a:latin typeface="Plus Jakarta Sans"/>
              </a:rPr>
              <a:t>Kunal Mhatre</a:t>
            </a:r>
            <a:r>
              <a:rPr sz="1200" b="0" i="0" u="none">
                <a:solidFill>
                  <a:srgbClr val="64748B"/>
                </a:solidFill>
                <a:latin typeface="Plus Jakarta Sans"/>
              </a:rPr>
              <a:t> • Ready for Live 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5993" y="4233862"/>
            <a:ext cx="3643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1F5F9"/>
                </a:solidFill>
                <a:latin typeface="JetBrains Mono"/>
              </a:rPr>
              <a:t>instagram-clone-drab-pi.vercel.app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1700" y="4233862"/>
            <a:ext cx="4286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1F5F9"/>
                </a:solidFill>
                <a:latin typeface="JetBrains Mono"/>
              </a:rPr>
              <a:t>github.com/01092005kunal/Instagram-clone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659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JetBrains Mono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Kunal</cp:lastModifiedBy>
  <cp:revision>4</cp:revision>
  <dcterms:created xsi:type="dcterms:W3CDTF">2013-01-27T09:14:16Z</dcterms:created>
  <dcterms:modified xsi:type="dcterms:W3CDTF">2026-10-04T13:59:19Z</dcterms:modified>
  <cp:category/>
</cp:coreProperties>
</file>